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Artículo de Valero-Gómez et al., RIAI 2013. Propone una arquitectura de integración totalmente basada en estándares de Servicios Web para conectar agentes software heterogéneos de robots móviles.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autores parten de un caso real: el robot Urbano integra voz, cara, brazos y navegación desarrollados por grupos distintos, en Windows y Linux, con frameworks distintos. Los frameworks tipo ROS u OpenRDK resuelven la reutilización pero son intrusivos: obligan a adoptar su lenguaje, su estilo y a recompilar. De ahí la motivación de la arquitectura.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Jabon es una implementación open-source de SOAP para C++ con núcleo dinámico: al contrario que gSOAP, no genera código estático, sino que construye los mensajes en tiempo de ejecución leyendo la descripción WSDL. Esponja es el bróker: mantiene en memoria la descripción de todos los servicios y eventos detectados y traduce los mensajes (nombres de operación y parámetros incluidos) entre agentes que no se conocen entre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seis principios: (1) servicio autocontenido: cada agente expone sus eventos y servicios; (2) contrato explícito: el WSDL se obtiene por GET y describe operaciones y parámetros; (3) bajo acoplamiento: el requisito más deseado del artículo, desarrollar agentes sin ninguna interfaz en común; (4) interoperabilidad: SOAP/XML/HTTP, estándares del W3C, legibles por humanos para depurar; (5) descubrimiento e invocación dinámica: la herramienta Gel descarga el WSDL e invoca servicios sin conocimiento previo; (6) mediación: Esponja actúa como bróker/ESB, con un Agente Orquestador que secuencia tareas a alto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experimentos: mapeado multi-robot en laboratorio (Urbano construye el mapa 2D en 6 minutos, Nemo lo enriquece con información 3D) y el demostrador completo en el Museo Príncipe Felipe de Valencia, con los tres robots y usuarios ajenos al proyecto. El tiempo de integración se redujo en un orden de magnitud.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 de los autores: la arquitectura no sustituye a los sistemas existentes, los complementa. Ha sido adoptada por otros equipos de investigación incluso fuera de la robótica, y el código de Jabon/Esponja está disponible como open-source. Línea futura: navegación autónoma robusta basada en modelos 3D, independiente del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5120640" cy="5120640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E08A3C">
              <a:alpha val="30000"/>
            </a:srgbClr>
          </a:solidFill>
          <a:ln w="12700">
            <a:solidFill>
              <a:srgbClr val="E08A3C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9D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RIAI · Revista Iberoamericana de Automática e Informática Industrial · 2013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9326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integración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basada en Servicios Web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4670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heterogéneos y distribuidos: aplicación a robots móviles interactivos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41248" y="4206240"/>
            <a:ext cx="502920" cy="32004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Valero-Gómez · de la Puente · Rodríguez-Losada · Hernando · San Segundo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Automática y Robótica CAR (UPM–CSIC), Madrid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43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SOA aplicados a la robótica de servicio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cada equipo, su propio mundo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 de servicio = equipos, lenguajes y sistemas operativos distintos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Voz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· Windows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066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Tecnología del Habla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3364992"/>
            <a:ext cx="0" cy="438912"/>
          </a:xfrm>
          <a:prstGeom prst="line">
            <a:avLst/>
          </a:prstGeom>
          <a:noFill/>
          <a:ln w="19050">
            <a:solidFill>
              <a:srgbClr val="B9C6D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173736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965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Navegación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3957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OpenRDK · Linux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066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 La Sapienza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07608" y="3364992"/>
            <a:ext cx="0" cy="438912"/>
          </a:xfrm>
          <a:prstGeom prst="line">
            <a:avLst/>
          </a:prstGeom>
          <a:noFill/>
          <a:ln w="19050">
            <a:solidFill>
              <a:srgbClr val="B9C6D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46720" y="173736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965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3957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· Windows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066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de 3.er curso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10928" y="3364992"/>
            <a:ext cx="0" cy="438912"/>
          </a:xfrm>
          <a:prstGeom prst="line">
            <a:avLst/>
          </a:prstGeom>
          <a:noFill/>
          <a:ln w="19050">
            <a:solidFill>
              <a:srgbClr val="B9C6D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3913632"/>
            <a:ext cx="10927080" cy="1005840"/>
          </a:xfrm>
          <a:prstGeom prst="roundRect">
            <a:avLst>
              <a:gd name="adj" fmla="val 5455"/>
            </a:avLst>
          </a:prstGeom>
          <a:solidFill>
            <a:srgbClr val="F7E6DB"/>
          </a:solidFill>
          <a:ln w="15875">
            <a:solidFill>
              <a:srgbClr val="E08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4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ad-hoc o framework único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4805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Impone lenguaje, sistema operativo y estilo de código · recompilar todo ante cada cambio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431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440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Intrusivo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5733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envuelve a la aplicación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3400" y="54406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43400" y="5431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5440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Rígido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5733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sustituirlo cuesta meses de reescritura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54406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5431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549640" y="5440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Acoplado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549640" y="5733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deben conocer la interfaz del resto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agentes independientes + un bróker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publica su interfaz; nadie necesita conocer la de los demás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Voz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+ servicios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04288" y="2514600"/>
            <a:ext cx="0" cy="4114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377440" y="25877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/ HTTP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916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Navegación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116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+ servicios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07608" y="2514600"/>
            <a:ext cx="0" cy="4114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080760" y="25877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/ HTTP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916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Cara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0116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+ servicios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10928" y="2514600"/>
            <a:ext cx="0" cy="4114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9784080" y="25877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/ HTTP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999232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3145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ESPONJA · bróker SOAP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20040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y enruta: asocia el evento de un agente con el servicio de otro, en tiempo de ejecución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160520"/>
            <a:ext cx="5212080" cy="2148840"/>
          </a:xfrm>
          <a:prstGeom prst="roundRect">
            <a:avLst>
              <a:gd name="adj" fmla="val 2553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JABON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6817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para C++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50292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dinámico de comunicaciones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cliente y servidor desde una cabecera .h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Invocación dinámica leyendo el WSDL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4160520"/>
            <a:ext cx="5212080" cy="2148840"/>
          </a:xfrm>
          <a:prstGeom prst="roundRect">
            <a:avLst>
              <a:gd name="adj" fmla="val 2553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ESPONJA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6817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Bróker y traductor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50292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 servicios y eventos publicados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asociación en XML o por interfaz gráfica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reconfigura en caliente, sin recompilar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SOA que sostienen la arquitectura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conceptual: principio de SOA → cómo lo aplica el artículo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56048" y="3163824"/>
            <a:ext cx="2286000" cy="13716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56048" y="3456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7274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a servicios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26280" y="2157984"/>
            <a:ext cx="0" cy="3383280"/>
          </a:xfrm>
          <a:prstGeom prst="line">
            <a:avLst/>
          </a:prstGeom>
          <a:noFill/>
          <a:ln w="19050">
            <a:solidFill>
              <a:srgbClr val="C3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71816" y="2157984"/>
            <a:ext cx="0" cy="3383280"/>
          </a:xfrm>
          <a:prstGeom prst="line">
            <a:avLst/>
          </a:prstGeom>
          <a:noFill/>
          <a:ln w="19050">
            <a:solidFill>
              <a:srgbClr val="C3CF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3849624"/>
            <a:ext cx="429768" cy="0"/>
          </a:xfrm>
          <a:prstGeom prst="line">
            <a:avLst/>
          </a:prstGeom>
          <a:noFill/>
          <a:ln w="19050">
            <a:solidFill>
              <a:srgbClr val="C3CF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42048" y="3849624"/>
            <a:ext cx="429768" cy="0"/>
          </a:xfrm>
          <a:prstGeom prst="line">
            <a:avLst/>
          </a:prstGeom>
          <a:noFill/>
          <a:ln w="19050">
            <a:solidFill>
              <a:srgbClr val="C3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938528"/>
            <a:ext cx="155448" cy="0"/>
          </a:xfrm>
          <a:prstGeom prst="line">
            <a:avLst/>
          </a:prstGeom>
          <a:noFill/>
          <a:ln w="19050">
            <a:solidFill>
              <a:srgbClr val="C3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572768"/>
            <a:ext cx="3803904" cy="1170432"/>
          </a:xfrm>
          <a:prstGeom prst="roundRect">
            <a:avLst>
              <a:gd name="adj" fmla="val 5469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82880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1773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autocontenido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19456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(voz, cara, navegación) es un servicio web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70832" y="3630168"/>
            <a:ext cx="155448" cy="0"/>
          </a:xfrm>
          <a:prstGeom prst="line">
            <a:avLst/>
          </a:prstGeom>
          <a:noFill/>
          <a:ln w="19050">
            <a:solidFill>
              <a:srgbClr val="C3CF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264408"/>
            <a:ext cx="3803904" cy="1170432"/>
          </a:xfrm>
          <a:prstGeom prst="roundRect">
            <a:avLst>
              <a:gd name="adj" fmla="val 5469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52044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07008" y="34655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explícito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88620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publicada en WSDL, consultable por GET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70832" y="5321808"/>
            <a:ext cx="155448" cy="0"/>
          </a:xfrm>
          <a:prstGeom prst="line">
            <a:avLst/>
          </a:prstGeom>
          <a:noFill/>
          <a:ln w="19050">
            <a:solidFill>
              <a:srgbClr val="C3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956048"/>
            <a:ext cx="3803904" cy="1170432"/>
          </a:xfrm>
          <a:prstGeom prst="roundRect">
            <a:avLst>
              <a:gd name="adj" fmla="val 5469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21208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07008" y="51572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acoplamiento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57784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interfaz común, sin código ni ficheros compartidos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71816" y="1938528"/>
            <a:ext cx="155448" cy="0"/>
          </a:xfrm>
          <a:prstGeom prst="line">
            <a:avLst/>
          </a:prstGeom>
          <a:noFill/>
          <a:ln w="19050">
            <a:solidFill>
              <a:srgbClr val="C3CF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08976" y="1572768"/>
            <a:ext cx="3803904" cy="1170432"/>
          </a:xfrm>
          <a:prstGeom prst="roundRect">
            <a:avLst>
              <a:gd name="adj" fmla="val 5469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5008" y="182880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49056" y="1773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Interoperabilidad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065008" y="219456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+ XML sobre HTTP: estándares W3C, legibles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71816" y="3630168"/>
            <a:ext cx="155448" cy="0"/>
          </a:xfrm>
          <a:prstGeom prst="line">
            <a:avLst/>
          </a:prstGeom>
          <a:noFill/>
          <a:ln w="19050">
            <a:solidFill>
              <a:srgbClr val="C3CF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08976" y="3264408"/>
            <a:ext cx="3803904" cy="1170432"/>
          </a:xfrm>
          <a:prstGeom prst="roundRect">
            <a:avLst>
              <a:gd name="adj" fmla="val 5469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5008" y="352044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49056" y="34655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Descubrimiento dinámico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065008" y="388620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conecta e invoca servicios durante la ejecución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671816" y="5321808"/>
            <a:ext cx="155448" cy="0"/>
          </a:xfrm>
          <a:prstGeom prst="line">
            <a:avLst/>
          </a:prstGeom>
          <a:noFill/>
          <a:ln w="19050">
            <a:solidFill>
              <a:srgbClr val="C3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08976" y="4956048"/>
            <a:ext cx="3803904" cy="1170432"/>
          </a:xfrm>
          <a:prstGeom prst="roundRect">
            <a:avLst>
              <a:gd name="adj" fmla="val 5469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65008" y="521208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49056" y="51572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Mediación / bróker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65008" y="557784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Esponja enruta y traduce mensajes entre agentes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del laboratorio al museo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Demostrador Robonauta · 3 robots · Museo Príncipe Felipe, Valencia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2286000"/>
          </a:xfrm>
          <a:prstGeom prst="roundRect">
            <a:avLst>
              <a:gd name="adj" fmla="val 28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14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h → 10 min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agente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usar la arquitectura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6432" y="1691640"/>
            <a:ext cx="2514600" cy="2286000"/>
          </a:xfrm>
          <a:prstGeom prst="roundRect">
            <a:avLst>
              <a:gd name="adj" fmla="val 2800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9312" y="21214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h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reglas del bróker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3 robots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691640"/>
            <a:ext cx="2514600" cy="2286000"/>
          </a:xfrm>
          <a:prstGeom prst="roundRect">
            <a:avLst>
              <a:gd name="adj" fmla="val 2800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21214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ms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roundtrip SOAP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máquina local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89136" y="1691640"/>
            <a:ext cx="2514600" cy="2286000"/>
          </a:xfrm>
          <a:prstGeom prst="roundRect">
            <a:avLst>
              <a:gd name="adj" fmla="val 2800"/>
            </a:avLst>
          </a:prstGeom>
          <a:solidFill>
            <a:srgbClr val="EEF3F7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72016" y="21214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robots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Urbano, Doris y Nemo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cooperando en el mismo entorno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927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617720"/>
            <a:ext cx="420624" cy="420624"/>
          </a:xfrm>
          <a:prstGeom prst="ellipse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6634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27048" y="4636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27048" y="4956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operador lo guía; construye el mapa 2D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4828032"/>
            <a:ext cx="292608" cy="0"/>
          </a:xfrm>
          <a:prstGeom prst="line">
            <a:avLst/>
          </a:prstGeom>
          <a:noFill/>
          <a:ln w="19050">
            <a:solidFill>
              <a:srgbClr val="B9C6D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4617720"/>
            <a:ext cx="420624" cy="420624"/>
          </a:xfrm>
          <a:prstGeom prst="ellipse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46634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138928" y="4636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138928" y="4956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la ruta y genera el mapa 3D de navegabilidad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4828032"/>
            <a:ext cx="292608" cy="0"/>
          </a:xfrm>
          <a:prstGeom prst="line">
            <a:avLst/>
          </a:prstGeom>
          <a:noFill/>
          <a:ln w="19050">
            <a:solidFill>
              <a:srgbClr val="B9C6D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183880" y="4617720"/>
            <a:ext cx="420624" cy="420624"/>
          </a:xfrm>
          <a:prstGeom prst="ellipse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83880" y="46634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750808" y="4636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Doris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750808" y="4956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a una persona con la información compartida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57150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 sin personal técnico: basta guiar al robot y etiquetar lugares con la voz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4937760" cy="493776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aporta el artículo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883664"/>
            <a:ext cx="457200" cy="457200"/>
          </a:xfrm>
          <a:prstGeom prst="ellipse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288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Complementa, no sustituye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494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 con ROS u OpenRDK en lugar de reemplazarlos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209544"/>
            <a:ext cx="457200" cy="457200"/>
          </a:xfrm>
          <a:prstGeom prst="ellipse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2644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1546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Estándares antes que frameworks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5753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SOAP, WSDL y XML: cualquier lenguaje, cualquier sistema operativo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535424"/>
            <a:ext cx="457200" cy="457200"/>
          </a:xfrm>
          <a:prstGeom prst="ellipse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5902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4805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acoplamiento es el coste real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9011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Desacoplar redujo la integración en un orden de magnitud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Jabon y Esponja se liberaron como código abierto para la comunidad robótica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2026-09-08T23:28:41Z</dcterms:created>
  <dcterms:modified xsi:type="dcterms:W3CDTF">2026-09-08T23:28:41Z</dcterms:modified>
</cp:coreProperties>
</file>