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Presentacion del caso: como una red de sistemas heterogeneos de un retailer se integra mediante SOA, con un bus de servicios como mediador.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define el alcance del caso y la hoja de ruta de la exposicion.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costo real no es tecnico sino de mantenimiento: el crecimiento cuadratico de interfaces bloquea la incorporacion de nuevos canales y socios.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ESB reduce el crecimiento de interfaces de cuadratico a lineal y centraliza transformacion, enrutamiento y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xSOA de Papazoglou y van den Heuvel (2007) adaptado al caso: capas de consumo, orquestacion, mediacion, servicios, datos y sistemas.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servicio corresponde a una capacidad de negocio, no a una aplicacion: eso es lo que permite reutilizarlo en varios canales.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pila combina estandares de servicios web con estandares sectoriales de retail: EDI X12 sobre AS2 y GS1 EPCIS.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proceso vive en el motor de orquestacion, no dentro de las aplicaciones: cambiar un proveedor no obliga a tocar el ERP.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anexos sostienen la parte de la arquitectura que no se ve en el diagrama: gobierno, seguridad y medicion.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caso muestra que SOA resuelve el problema de integracion cuando se acompana de estandares sectoriales y de gobierno.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2070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  ·  INTEGRACIÓN DE SISTEMAS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60020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Orientada a Servicios (SOA)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218688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la cadena de suministro de un retailer multicanal: ERP, e-commerce, WMS, transportadoras y proveedores.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4315968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1331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4315968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Alejo Quintero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Ingeniería de Sistemas, UFPS Cúcuta</a:t>
            </a:r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9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de 2026   ·   Integración de Sistemas de Información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35240" y="1965960"/>
            <a:ext cx="1417320" cy="1600200"/>
          </a:xfrm>
          <a:prstGeom prst="line">
            <a:avLst/>
          </a:prstGeom>
          <a:noFill/>
          <a:ln w="15875">
            <a:solidFill>
              <a:srgbClr val="3C5A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052560" y="1965960"/>
            <a:ext cx="960120" cy="1600200"/>
          </a:xfrm>
          <a:prstGeom prst="line">
            <a:avLst/>
          </a:prstGeom>
          <a:noFill/>
          <a:ln w="15875">
            <a:solidFill>
              <a:srgbClr val="3C5A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3566160"/>
            <a:ext cx="2011680" cy="0"/>
          </a:xfrm>
          <a:prstGeom prst="line">
            <a:avLst/>
          </a:prstGeom>
          <a:noFill/>
          <a:ln w="15875">
            <a:solidFill>
              <a:srgbClr val="3C5A7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3566160"/>
            <a:ext cx="2011680" cy="0"/>
          </a:xfrm>
          <a:prstGeom prst="line">
            <a:avLst/>
          </a:prstGeom>
          <a:noFill/>
          <a:ln w="15875">
            <a:solidFill>
              <a:srgbClr val="3C5A7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7635240" y="3566160"/>
            <a:ext cx="1417320" cy="1600200"/>
          </a:xfrm>
          <a:prstGeom prst="line">
            <a:avLst/>
          </a:prstGeom>
          <a:noFill/>
          <a:ln w="15875">
            <a:solidFill>
              <a:srgbClr val="3C5A7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0" y="3566160"/>
            <a:ext cx="960120" cy="1600200"/>
          </a:xfrm>
          <a:prstGeom prst="line">
            <a:avLst/>
          </a:prstGeom>
          <a:noFill/>
          <a:ln w="15875">
            <a:solidFill>
              <a:srgbClr val="3C5A7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22008" y="1728216"/>
            <a:ext cx="1426464" cy="475488"/>
          </a:xfrm>
          <a:prstGeom prst="roundRect">
            <a:avLst>
              <a:gd name="adj" fmla="val 19231"/>
            </a:avLst>
          </a:prstGeom>
          <a:solidFill>
            <a:srgbClr val="13315C"/>
          </a:solidFill>
          <a:ln w="12700">
            <a:solidFill>
              <a:srgbClr val="3C5A7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22008" y="1728216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299448" y="1728216"/>
            <a:ext cx="1426464" cy="475488"/>
          </a:xfrm>
          <a:prstGeom prst="roundRect">
            <a:avLst>
              <a:gd name="adj" fmla="val 19231"/>
            </a:avLst>
          </a:prstGeom>
          <a:solidFill>
            <a:srgbClr val="13315C"/>
          </a:solidFill>
          <a:ln w="12700">
            <a:solidFill>
              <a:srgbClr val="3C5A7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9448" y="1728216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27648" y="3328416"/>
            <a:ext cx="1426464" cy="475488"/>
          </a:xfrm>
          <a:prstGeom prst="roundRect">
            <a:avLst>
              <a:gd name="adj" fmla="val 19231"/>
            </a:avLst>
          </a:prstGeom>
          <a:solidFill>
            <a:srgbClr val="13315C"/>
          </a:solidFill>
          <a:ln w="12700">
            <a:solidFill>
              <a:srgbClr val="3C5A7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27648" y="3328416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351008" y="3328416"/>
            <a:ext cx="1426464" cy="475488"/>
          </a:xfrm>
          <a:prstGeom prst="roundRect">
            <a:avLst>
              <a:gd name="adj" fmla="val 19231"/>
            </a:avLst>
          </a:prstGeom>
          <a:solidFill>
            <a:srgbClr val="13315C"/>
          </a:solidFill>
          <a:ln w="12700">
            <a:solidFill>
              <a:srgbClr val="3C5A7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51008" y="3328416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22008" y="4928616"/>
            <a:ext cx="1426464" cy="475488"/>
          </a:xfrm>
          <a:prstGeom prst="roundRect">
            <a:avLst>
              <a:gd name="adj" fmla="val 19231"/>
            </a:avLst>
          </a:prstGeom>
          <a:solidFill>
            <a:srgbClr val="13315C"/>
          </a:solidFill>
          <a:ln w="12700">
            <a:solidFill>
              <a:srgbClr val="3C5A7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22008" y="4928616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TIENDA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299448" y="4928616"/>
            <a:ext cx="1426464" cy="475488"/>
          </a:xfrm>
          <a:prstGeom prst="roundRect">
            <a:avLst>
              <a:gd name="adj" fmla="val 19231"/>
            </a:avLst>
          </a:prstGeom>
          <a:solidFill>
            <a:srgbClr val="13315C"/>
          </a:solidFill>
          <a:ln w="12700">
            <a:solidFill>
              <a:srgbClr val="3C5A7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99448" y="4928616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83880" y="324612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E883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8388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ESB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108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caso de estudio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0525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solución vamos a analizar y cómo está organizada la exposición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" y="1463040"/>
            <a:ext cx="5715000" cy="4526280"/>
          </a:xfrm>
          <a:prstGeom prst="roundRect">
            <a:avLst>
              <a:gd name="adj" fmla="val 2020"/>
            </a:avLst>
          </a:prstGeom>
          <a:solidFill>
            <a:srgbClr val="F5F8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190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84832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E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cadena de retail multicanal opera con ocho sistemas de información construidos en épocas y tecnologías distintas: el ERP financiero y de compras, la plataforma de e-commerce, el WMS del centro de distribución, el TMS de transporte, el POS de las tiendas, el maestro de productos, el sistema de devoluciones y el portal de proveedores.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E3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esa red interna se suman cientos de proveedores y transportadoras externas que intercambian órdenes de compra, avisos de despacho y facturas. La solución adoptada —y que aquí se analiza— reemplaza las conexiones punto a punto por una arquitectura orientada a servicios con un bus de integración, servicios web reutilizables y estándares abiertos de comercio electrónico B2B (ANSI X12 sobre AS2) y de trazabilidad (GS1 EPCIS).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29400" y="157276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1572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159105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190195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Silos, interfaces punto a punto y datos desincronizados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29400" y="265176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2651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267004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 adoptada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98094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integración cableada al bus de servicios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29400" y="3730752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37307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374904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arquitectura SOA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405993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Capas, servicios web y tecnologías implementadas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29400" y="4809744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48097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482803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Anexos y conclusiones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51389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Gobierno, seguridad, métricas y referencias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108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se va a solucionar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0525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sistemas heterogéneos y cientos de socios comerciales conectados uno a uno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" y="1481328"/>
            <a:ext cx="3246120" cy="4507992"/>
          </a:xfrm>
          <a:prstGeom prst="roundRect">
            <a:avLst>
              <a:gd name="adj" fmla="val 2817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5528" y="19659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7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291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punto a punto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67328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n sistemas de forma directa exige hasta n(n−1)/2 enlaces. Con 8 sistemas son 28 integraciones que mantener, probar y versionar por separado; cada sistema nuevo agrega otras ocho.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33088" y="1481328"/>
            <a:ext cx="745236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/>
        </p:spPr>
      </p:sp>
      <p:sp>
        <p:nvSpPr>
          <p:cNvPr id="9" name="Shape 7"/>
          <p:cNvSpPr/>
          <p:nvPr/>
        </p:nvSpPr>
        <p:spPr>
          <a:xfrm>
            <a:off x="4370832" y="171907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883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70832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159105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maestros duplicados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88366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GTIN vive en ERP, e-commerce y WMS con precios y atributos distintos: se vende lo que no hay en bodega.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33088" y="2404872"/>
            <a:ext cx="7452360" cy="822960"/>
          </a:xfrm>
          <a:prstGeom prst="roundRect">
            <a:avLst>
              <a:gd name="adj" fmla="val 8889"/>
            </a:avLst>
          </a:prstGeom>
          <a:solidFill>
            <a:srgbClr val="F5F8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370832" y="264261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883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70832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251460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Sincronización por lotes nocturnos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864608" y="280720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inventario viaja en archivos planos una vez al día; el canal digital trabaja con una foto de hasta 24 horas de antigüedad.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33088" y="3328416"/>
            <a:ext cx="745236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/>
        </p:spPr>
      </p:sp>
      <p:sp>
        <p:nvSpPr>
          <p:cNvPr id="19" name="Shape 17"/>
          <p:cNvSpPr/>
          <p:nvPr/>
        </p:nvSpPr>
        <p:spPr>
          <a:xfrm>
            <a:off x="4370832" y="356616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883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70832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864608" y="343814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socio, un desarrollo a medida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864608" y="373075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un proveedor o una transportadora implica construir una interfaz propia, sin contrato reutilizable.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33088" y="4251960"/>
            <a:ext cx="7452360" cy="822960"/>
          </a:xfrm>
          <a:prstGeom prst="roundRect">
            <a:avLst>
              <a:gd name="adj" fmla="val 8889"/>
            </a:avLst>
          </a:prstGeom>
          <a:solidFill>
            <a:srgbClr val="F5F8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370832" y="448970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883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70832" y="4489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864608" y="436168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 de negocio replicada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864608" y="465429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Disponibilidad, impuestos y promociones se recalculan en cada canal, con reglas que se desalinean con el tiempo.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33088" y="5175504"/>
            <a:ext cx="745236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/>
        </p:spPr>
      </p:sp>
      <p:sp>
        <p:nvSpPr>
          <p:cNvPr id="29" name="Shape 27"/>
          <p:cNvSpPr/>
          <p:nvPr/>
        </p:nvSpPr>
        <p:spPr>
          <a:xfrm>
            <a:off x="4370832" y="54132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883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370832" y="5413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864608" y="528523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trazabilidad extremo a extremo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864608" y="557784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 estado único del pedido: los incumplimientos de aviso de despacho (ASN) y de entrega a tiempo generan penalizaciones.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108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 adoptada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0525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la integración cableada por mediación y contratos de servicio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" y="1463040"/>
            <a:ext cx="5440680" cy="4553712"/>
          </a:xfrm>
          <a:prstGeom prst="roundRect">
            <a:avLst>
              <a:gd name="adj" fmla="val 2008"/>
            </a:avLst>
          </a:prstGeom>
          <a:solidFill>
            <a:srgbClr val="F5F8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66420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 ·  Punto a punto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32988" y="2331720"/>
            <a:ext cx="1029462" cy="594360"/>
          </a:xfrm>
          <a:prstGeom prst="line">
            <a:avLst/>
          </a:prstGeom>
          <a:noFill/>
          <a:ln w="12700">
            <a:solidFill>
              <a:srgbClr val="AFC0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32988" y="2331720"/>
            <a:ext cx="1029462" cy="1783080"/>
          </a:xfrm>
          <a:prstGeom prst="line">
            <a:avLst/>
          </a:prstGeom>
          <a:noFill/>
          <a:ln w="12700">
            <a:solidFill>
              <a:srgbClr val="AFC0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2988" y="2331720"/>
            <a:ext cx="0" cy="2377440"/>
          </a:xfrm>
          <a:prstGeom prst="line">
            <a:avLst/>
          </a:prstGeom>
          <a:noFill/>
          <a:ln w="12700">
            <a:solidFill>
              <a:srgbClr val="AFC0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303526" y="2331720"/>
            <a:ext cx="1029462" cy="1783080"/>
          </a:xfrm>
          <a:prstGeom prst="line">
            <a:avLst/>
          </a:prstGeom>
          <a:noFill/>
          <a:ln w="12700">
            <a:solidFill>
              <a:srgbClr val="AFC0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303526" y="2331720"/>
            <a:ext cx="1029462" cy="594360"/>
          </a:xfrm>
          <a:prstGeom prst="line">
            <a:avLst/>
          </a:prstGeom>
          <a:noFill/>
          <a:ln w="12700">
            <a:solidFill>
              <a:srgbClr val="AFC0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2450" y="2926080"/>
            <a:ext cx="0" cy="1188720"/>
          </a:xfrm>
          <a:prstGeom prst="line">
            <a:avLst/>
          </a:prstGeom>
          <a:noFill/>
          <a:ln w="12700">
            <a:solidFill>
              <a:srgbClr val="AFC0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332988" y="2926080"/>
            <a:ext cx="1029462" cy="1783080"/>
          </a:xfrm>
          <a:prstGeom prst="line">
            <a:avLst/>
          </a:prstGeom>
          <a:noFill/>
          <a:ln w="12700">
            <a:solidFill>
              <a:srgbClr val="AFC0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303526" y="2926080"/>
            <a:ext cx="2058923" cy="1188720"/>
          </a:xfrm>
          <a:prstGeom prst="line">
            <a:avLst/>
          </a:prstGeom>
          <a:noFill/>
          <a:ln w="12700">
            <a:solidFill>
              <a:srgbClr val="AFC0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03526" y="2926080"/>
            <a:ext cx="2058923" cy="0"/>
          </a:xfrm>
          <a:prstGeom prst="line">
            <a:avLst/>
          </a:prstGeom>
          <a:noFill/>
          <a:ln w="12700">
            <a:solidFill>
              <a:srgbClr val="AFC0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332988" y="4114800"/>
            <a:ext cx="1029462" cy="594360"/>
          </a:xfrm>
          <a:prstGeom prst="line">
            <a:avLst/>
          </a:prstGeom>
          <a:noFill/>
          <a:ln w="12700">
            <a:solidFill>
              <a:srgbClr val="AFC0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03526" y="4114800"/>
            <a:ext cx="2058923" cy="0"/>
          </a:xfrm>
          <a:prstGeom prst="line">
            <a:avLst/>
          </a:prstGeom>
          <a:noFill/>
          <a:ln w="12700">
            <a:solidFill>
              <a:srgbClr val="AFC0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03526" y="2926080"/>
            <a:ext cx="2058923" cy="1188720"/>
          </a:xfrm>
          <a:prstGeom prst="line">
            <a:avLst/>
          </a:prstGeom>
          <a:noFill/>
          <a:ln w="12700">
            <a:solidFill>
              <a:srgbClr val="AFC0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03526" y="4114800"/>
            <a:ext cx="1029462" cy="594360"/>
          </a:xfrm>
          <a:prstGeom prst="line">
            <a:avLst/>
          </a:prstGeom>
          <a:noFill/>
          <a:ln w="12700">
            <a:solidFill>
              <a:srgbClr val="AFC0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03526" y="2926080"/>
            <a:ext cx="1029462" cy="1783080"/>
          </a:xfrm>
          <a:prstGeom prst="line">
            <a:avLst/>
          </a:prstGeom>
          <a:noFill/>
          <a:ln w="12700">
            <a:solidFill>
              <a:srgbClr val="AFC0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2303526" y="2926080"/>
            <a:ext cx="0" cy="1188720"/>
          </a:xfrm>
          <a:prstGeom prst="line">
            <a:avLst/>
          </a:prstGeom>
          <a:noFill/>
          <a:ln w="12700">
            <a:solidFill>
              <a:srgbClr val="AFC0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49524" y="204825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9AAEC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49524" y="2048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78986" y="264261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9AAEC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78986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78986" y="383133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9AAEC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78986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49524" y="442569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9AAEC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49524" y="4425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20062" y="383133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9AAEC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020062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20062" y="264261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9AAEC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020062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86968" y="49560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enlaces entre 6 sistemas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" y="526694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 de sistemas negocia su propio formato, su propio horario y su propio manejo de errores.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09360" y="1463040"/>
            <a:ext cx="5276088" cy="4553712"/>
          </a:xfrm>
          <a:prstGeom prst="roundRect">
            <a:avLst>
              <a:gd name="adj" fmla="val 2008"/>
            </a:avLst>
          </a:prstGeom>
          <a:solidFill>
            <a:srgbClr val="FCEAD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0" y="1664208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B05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 ·  Mediación por ESB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947404" y="2331720"/>
            <a:ext cx="0" cy="1188720"/>
          </a:xfrm>
          <a:prstGeom prst="line">
            <a:avLst/>
          </a:prstGeom>
          <a:noFill/>
          <a:ln w="19050">
            <a:solidFill>
              <a:srgbClr val="E0AC8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8947404" y="2926080"/>
            <a:ext cx="1029462" cy="594360"/>
          </a:xfrm>
          <a:prstGeom prst="line">
            <a:avLst/>
          </a:prstGeom>
          <a:noFill/>
          <a:ln w="19050">
            <a:solidFill>
              <a:srgbClr val="E0AC8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47404" y="3520440"/>
            <a:ext cx="1029462" cy="594360"/>
          </a:xfrm>
          <a:prstGeom prst="line">
            <a:avLst/>
          </a:prstGeom>
          <a:noFill/>
          <a:ln w="19050">
            <a:solidFill>
              <a:srgbClr val="E0AC8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47404" y="3520440"/>
            <a:ext cx="0" cy="1188720"/>
          </a:xfrm>
          <a:prstGeom prst="line">
            <a:avLst/>
          </a:prstGeom>
          <a:noFill/>
          <a:ln w="19050">
            <a:solidFill>
              <a:srgbClr val="E0AC8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7917942" y="3520440"/>
            <a:ext cx="1029462" cy="594360"/>
          </a:xfrm>
          <a:prstGeom prst="line">
            <a:avLst/>
          </a:prstGeom>
          <a:noFill/>
          <a:ln w="19050">
            <a:solidFill>
              <a:srgbClr val="E0AC8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17942" y="2926080"/>
            <a:ext cx="1029462" cy="594360"/>
          </a:xfrm>
          <a:prstGeom prst="line">
            <a:avLst/>
          </a:prstGeom>
          <a:noFill/>
          <a:ln w="19050">
            <a:solidFill>
              <a:srgbClr val="E0AC8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63940" y="204825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8833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663940" y="2048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693402" y="264261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8833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93402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693402" y="383133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8833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693402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663940" y="442569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8833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663940" y="4425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634478" y="383133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8833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634478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34478" y="264261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8833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634478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289036" y="3246120"/>
            <a:ext cx="1316736" cy="548640"/>
          </a:xfrm>
          <a:prstGeom prst="roundRect">
            <a:avLst>
              <a:gd name="adj" fmla="val 16667"/>
            </a:avLst>
          </a:prstGeom>
          <a:solidFill>
            <a:srgbClr val="E8833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289036" y="324612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ESB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583680" y="4956048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enlaces entre 6 sistemas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6812280" y="5266944"/>
            <a:ext cx="4270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publican y consumen contratos; el bus enruta, transforma y aplica seguridad.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612648" y="6144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rector:  </a:t>
            </a:r>
            <a:pPr indent="0" marL="0">
              <a:buNone/>
            </a:pPr>
            <a:r>
              <a:rPr lang="en-US" sz="120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acoplamiento deja de ser entre aplicaciones y pasa a ser contra un contrato de servicio versionado, independiente de la tecnología que lo implemente.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108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arquitectura SOA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0525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del caso de estudio y componentes desplegados en cada una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" y="1371600"/>
            <a:ext cx="9144000" cy="722376"/>
          </a:xfrm>
          <a:prstGeom prst="roundRect">
            <a:avLst>
              <a:gd name="adj" fmla="val 10127"/>
            </a:avLst>
          </a:prstGeom>
          <a:solidFill>
            <a:srgbClr val="F5F8FC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371600"/>
            <a:ext cx="2606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Canales y consumidores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584448" y="1371600"/>
            <a:ext cx="5989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e-commerce (Angular)  ·  App móvil  ·  POS de tienda  ·  Portal de proveedores  ·  Tableros de BI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" y="2226564"/>
            <a:ext cx="9144000" cy="722376"/>
          </a:xfrm>
          <a:prstGeom prst="roundRect">
            <a:avLst>
              <a:gd name="adj" fmla="val 10127"/>
            </a:avLst>
          </a:prstGeom>
          <a:solidFill>
            <a:srgbClr val="F5F8FC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226564"/>
            <a:ext cx="2606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Orquestación de procesos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226564"/>
            <a:ext cx="5989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WS-BPEL 2.0 y modelos BPMN 2.0: Pedido a entrega  ·  Reabastecimiento  ·  Logística inversa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" y="3081528"/>
            <a:ext cx="9144000" cy="722376"/>
          </a:xfrm>
          <a:prstGeom prst="roundRect">
            <a:avLst>
              <a:gd name="adj" fmla="val 10127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081528"/>
            <a:ext cx="2606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 de servicios (ESB)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3081528"/>
            <a:ext cx="5989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DE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Enrutamiento por contenido  ·  Transformación XSLT  ·  Mediación de protocolos  ·  Colas JMS/AMQP  ·  Registro de servicios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" y="3936492"/>
            <a:ext cx="9144000" cy="722376"/>
          </a:xfrm>
          <a:prstGeom prst="roundRect">
            <a:avLst>
              <a:gd name="adj" fmla="val 10127"/>
            </a:avLst>
          </a:prstGeom>
          <a:solidFill>
            <a:srgbClr val="F5F8FC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3936492"/>
            <a:ext cx="2606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de negocio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84448" y="3936492"/>
            <a:ext cx="5989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 ·  Inventario  ·  Pedidos  ·  Compras B2B  ·  Envíos  ·  Facturación  ·  Trazabilidad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" y="4791456"/>
            <a:ext cx="9144000" cy="722376"/>
          </a:xfrm>
          <a:prstGeom prst="roundRect">
            <a:avLst>
              <a:gd name="adj" fmla="val 10127"/>
            </a:avLst>
          </a:prstGeom>
          <a:solidFill>
            <a:srgbClr val="F5F8FC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791456"/>
            <a:ext cx="2606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de datos y adaptadores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84448" y="4791456"/>
            <a:ext cx="5989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 SAP IDoc/RFC  ·  JDBC  ·  Adaptador ANSI X12 / AS2  ·  Modelo canónico de datos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" y="5646420"/>
            <a:ext cx="9144000" cy="722376"/>
          </a:xfrm>
          <a:prstGeom prst="roundRect">
            <a:avLst>
              <a:gd name="adj" fmla="val 10127"/>
            </a:avLst>
          </a:prstGeom>
          <a:solidFill>
            <a:srgbClr val="F5F8FC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5646420"/>
            <a:ext cx="2606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y socios comerciales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84448" y="5646420"/>
            <a:ext cx="5989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 ·  WMS  ·  TMS  ·  POS  ·  E-commerce  ·  Proveedores  ·  Transportadoras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985248" y="1371600"/>
            <a:ext cx="1600200" cy="4956048"/>
          </a:xfrm>
          <a:prstGeom prst="roundRect">
            <a:avLst>
              <a:gd name="adj" fmla="val 4571"/>
            </a:avLst>
          </a:prstGeom>
          <a:solidFill>
            <a:srgbClr val="0B254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13264" y="1572768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113264" y="205740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 SOA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113264" y="2331720"/>
            <a:ext cx="1344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y versionado de contratos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0113264" y="3447288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13264" y="3721608"/>
            <a:ext cx="1344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WS-Security, OAuth 2.0, TLS y X.509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113264" y="483717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113264" y="5111496"/>
            <a:ext cx="1344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SLA, BAM y trazas correlacionadas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invocación descendente; el ESB es el único punto de mediación entre consumidores y proveedores de servicio.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108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web implementados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0525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publicados en el registro y consumidos a través del bus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481328"/>
          <a:ext cx="109728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3703320"/>
                <a:gridCol w="2743200"/>
                <a:gridCol w="2011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Operaciones principales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Estilo y contrato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Consumidores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CatalogoProductoService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obtenerFicha · sincronizarGTIN · publicarPrecio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SOAP 1.2 / WSDL 1.1 · XSD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E-commerce, POS, BI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InventarioService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consultarDisponibilidad · reservarStock · liberarStock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/ OpenAPI 3.1 · JSON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Canales de venta, tiendas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crearPedido · consultarEstado · cancelar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SOAP 1.2 + WS-ReliableMessaging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Web, app móvil, call center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CompraB2BService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enviarOrdenCompra (850) · recibirAcuse (855)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 X12 sobre AS2 (RFC 4130)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Proveedores externos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EnvioService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publicarASN (856) · rastrearEnvio · asignarSSCC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EDI X12 856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WMS, TMS, transportadoras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FacturacionService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emitirFactura (810) · conciliarPago (820)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SOAP 1.2 / WSDL · WS-Security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financiero, proveedores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TrazabilidadService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captureEvent · queryEvents (objeto, agregación)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GS1 EPCIS 2.0 · REST / JSON-LD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4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WMS, calidad, cliente final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12648" y="61447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servicios de negocio se exponen sobre HTTPS con TLS 1.3 y comparten el modelo canónico de datos del retailer.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108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y estándares implementados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0525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tecnológica que da soporte a cada preocupación de la arquitectura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" y="1481328"/>
            <a:ext cx="3584448" cy="2212848"/>
          </a:xfrm>
          <a:prstGeom prst="roundRect">
            <a:avLst>
              <a:gd name="adj" fmla="val 3306"/>
            </a:avLst>
          </a:prstGeom>
          <a:solidFill>
            <a:srgbClr val="F5F8FC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71907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88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71016" y="1700784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web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194560"/>
            <a:ext cx="303580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1.2 y WSDL 1.1 para contratos B2B estables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 OpenAPI 3.1 para canales digitales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Schema, JSON Schema y XSLT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publicados en el registro de servicios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0832" y="1481328"/>
            <a:ext cx="3584448" cy="2212848"/>
          </a:xfrm>
          <a:prstGeom prst="roundRect">
            <a:avLst>
              <a:gd name="adj" fmla="val 3306"/>
            </a:avLst>
          </a:prstGeom>
          <a:solidFill>
            <a:srgbClr val="F5F8FC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8576" y="171907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883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0" y="1700784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Orquestación e integración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2194560"/>
            <a:ext cx="303580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WS-BPEL 2.0 y notación BPMN 2.0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ESB con enrutamiento por contenido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asíncrona JMS / AMQP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Compensación de transacciones de larga duración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29016" y="1481328"/>
            <a:ext cx="3584448" cy="2212848"/>
          </a:xfrm>
          <a:prstGeom prst="roundRect">
            <a:avLst>
              <a:gd name="adj" fmla="val 3306"/>
            </a:avLst>
          </a:prstGeom>
          <a:solidFill>
            <a:srgbClr val="F5F8FC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171907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883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87384" y="1700784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Intercambio B2B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03336" y="2194560"/>
            <a:ext cx="303580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X12: 850, 855, 856, 810, 820, 852, 997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AS2 (RFC 4130) y SFTP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VICS y UCS del sector retail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Acuse funcional 997 y acuse MDN de transporte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" y="3913632"/>
            <a:ext cx="3584448" cy="2212848"/>
          </a:xfrm>
          <a:prstGeom prst="roundRect">
            <a:avLst>
              <a:gd name="adj" fmla="val 3306"/>
            </a:avLst>
          </a:prstGeom>
          <a:solidFill>
            <a:srgbClr val="F5F8FC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" y="415137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883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71016" y="4133088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4626864"/>
            <a:ext cx="303580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GS1 EPCIS 2.0 y CBV 2.0 (ISO/IEC 19987)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de captura y consulta de eventos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Identificadores GTIN, SSCC y GLN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serializados en XML y JSON-LD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70832" y="3913632"/>
            <a:ext cx="3584448" cy="2212848"/>
          </a:xfrm>
          <a:prstGeom prst="roundRect">
            <a:avLst>
              <a:gd name="adj" fmla="val 3306"/>
            </a:avLst>
          </a:prstGeom>
          <a:solidFill>
            <a:srgbClr val="F5F8FC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08576" y="415137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883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0" y="4133088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645152" y="4626864"/>
            <a:ext cx="303580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WS-Security con firma y cifrado XML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y SAML para federación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X.509 y TLS 1.3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esquema y filtrado XML en el bus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29016" y="3913632"/>
            <a:ext cx="3584448" cy="2212848"/>
          </a:xfrm>
          <a:prstGeom prst="roundRect">
            <a:avLst>
              <a:gd name="adj" fmla="val 3306"/>
            </a:avLst>
          </a:prstGeom>
          <a:solidFill>
            <a:srgbClr val="F5F8FC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66760" y="415137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883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87384" y="4133088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Descubrimiento y datos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403336" y="4626864"/>
            <a:ext cx="303580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Registro-repositorio de servicios (UDDI v3)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canónico y MDM de producto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SLA y actividad de negocio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dueño y contrato por cada servicio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108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Orquestación: del pedido a la entrega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0525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BPEL que coordina servicios internos y mensajes EDI con los socios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" y="1481328"/>
            <a:ext cx="267004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875">
            <a:solidFill>
              <a:srgbClr val="D5E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16824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32104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32104" y="217627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Captura del pedido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61518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canal invoca PedidoService y el ESB normaliza al modelo canónico.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321868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87268" y="2519172"/>
            <a:ext cx="109728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11" name="Shape 9"/>
          <p:cNvSpPr/>
          <p:nvPr/>
        </p:nvSpPr>
        <p:spPr>
          <a:xfrm>
            <a:off x="3401568" y="1481328"/>
            <a:ext cx="267004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875">
            <a:solidFill>
              <a:srgbClr val="D5E1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21024" y="16824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21024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217627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 de inventario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261518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InventarioService consulta WMS y ERP y bloquea el stock comprometido.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21024" y="321868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/ IDoc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76188" y="2519172"/>
            <a:ext cx="109728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0488" y="1481328"/>
            <a:ext cx="267004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875">
            <a:solidFill>
              <a:srgbClr val="D5E1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16824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0B25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9944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217627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 de compra al proveedor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261518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emite el documento 850 firmado y cifrado hacia el socio comercial.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9944" y="321868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X12 850 · AS2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65108" y="2519172"/>
            <a:ext cx="109728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25" name="Shape 23"/>
          <p:cNvSpPr/>
          <p:nvPr/>
        </p:nvSpPr>
        <p:spPr>
          <a:xfrm>
            <a:off x="8979408" y="1481328"/>
            <a:ext cx="267004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875">
            <a:solidFill>
              <a:srgbClr val="D5E1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98864" y="16824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0B254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98864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198864" y="217627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Acuse del proveedor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198864" y="261518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855 confirma cantidades y fechas; el bus actualiza el estado del pedido.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198864" y="321868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X12 855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" y="4005072"/>
            <a:ext cx="267004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875">
            <a:solidFill>
              <a:srgbClr val="D5E1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" y="42062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0B254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2104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" y="470001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Aviso de despacho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32104" y="5138928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856 declara el contenido de cada pallet identificado con SSCC.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32104" y="574243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X12 856 · SSCC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87268" y="5042916"/>
            <a:ext cx="109728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38" name="Shape 36"/>
          <p:cNvSpPr/>
          <p:nvPr/>
        </p:nvSpPr>
        <p:spPr>
          <a:xfrm>
            <a:off x="3401568" y="4005072"/>
            <a:ext cx="267004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875">
            <a:solidFill>
              <a:srgbClr val="D5E1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21024" y="42062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0B254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621024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3621024" y="470001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Recepción y trazabilidad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3621024" y="5138928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WMS publica eventos de recepción y agregación en el repositorio.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3621024" y="574243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EPCIS 2.0 capture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76188" y="5042916"/>
            <a:ext cx="109728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45" name="Shape 43"/>
          <p:cNvSpPr/>
          <p:nvPr/>
        </p:nvSpPr>
        <p:spPr>
          <a:xfrm>
            <a:off x="6190488" y="4005072"/>
            <a:ext cx="267004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875">
            <a:solidFill>
              <a:srgbClr val="D5E1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9944" y="42062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0B2545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409944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409944" y="470001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Facturación y conciliación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6409944" y="5138928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FacturacionService cruza 810 contra la orden y el aviso recibido.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409944" y="574243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X12 810 / 820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865108" y="5042916"/>
            <a:ext cx="109728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52" name="Shape 50"/>
          <p:cNvSpPr/>
          <p:nvPr/>
        </p:nvSpPr>
        <p:spPr>
          <a:xfrm>
            <a:off x="8979408" y="4005072"/>
            <a:ext cx="267004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875">
            <a:solidFill>
              <a:srgbClr val="D5E1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98864" y="42062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0B2545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198864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9198864" y="470001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y notificación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9198864" y="5138928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acuse funcional confirma el intercambio y se informa al cliente.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9198864" y="574243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X12 997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1089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0525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Gobierno, seguridad, indicadores y glosario del caso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" y="1481328"/>
            <a:ext cx="5486400" cy="2212848"/>
          </a:xfrm>
          <a:prstGeom prst="roundRect">
            <a:avLst>
              <a:gd name="adj" fmla="val 3306"/>
            </a:avLst>
          </a:prstGeom>
          <a:solidFill>
            <a:srgbClr val="F5F8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05256" y="1682496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Gobierno SOA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139696"/>
            <a:ext cx="482803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Registro-repositorio con ficha, dueño y SLA por servicio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de contratos con compatibilidad hacia atrás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arquitectura que aprueba nuevos servicios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reutilización antes de construir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de reutilización por servicio publicado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711696" y="1481328"/>
            <a:ext cx="5486400" cy="2212848"/>
          </a:xfrm>
          <a:prstGeom prst="roundRect">
            <a:avLst>
              <a:gd name="adj" fmla="val 3306"/>
            </a:avLst>
          </a:prstGeom>
          <a:solidFill>
            <a:srgbClr val="F5F8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04304" y="1682496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Seguridad y cumplimiento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139696"/>
            <a:ext cx="482803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y cifrado de mensajes con WS-Security y X.509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Acuses MDN en AS2 como evidencia de no repudio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para el consumo desde canales digitales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cada intercambio con el socio comercial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Segregación de ambientes y rotación de certificados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" y="3931920"/>
            <a:ext cx="5486400" cy="2212848"/>
          </a:xfrm>
          <a:prstGeom prst="roundRect">
            <a:avLst>
              <a:gd name="adj" fmla="val 3306"/>
            </a:avLst>
          </a:prstGeom>
          <a:solidFill>
            <a:srgbClr val="F5F8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5256" y="4133088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Indicadores de la solución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4590288"/>
            <a:ext cx="482803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mantenidas: de crecimiento cuadrático a lineal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del inventario: de lotes nocturnos a segundos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alta de un socio nuevo: de semanas a días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ASN y de entrega a tiempo y completa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Reutilización: un mismo servicio atiende varios canales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11696" y="3931920"/>
            <a:ext cx="5486400" cy="2212848"/>
          </a:xfrm>
          <a:prstGeom prst="roundRect">
            <a:avLst>
              <a:gd name="adj" fmla="val 3306"/>
            </a:avLst>
          </a:prstGeom>
          <a:solidFill>
            <a:srgbClr val="F5F8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04304" y="4133088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D. Glosario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4590288"/>
            <a:ext cx="482803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ESB: bus de servicios empresarial · WSDL: contrato SOAP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BPEL: lenguaje de orquestación de servicios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ASN: aviso anticipado de despacho (documento 856)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AS2: transporte seguro de EDI sobre HTTP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GTIN: identificador global de producto · SSCC: unidad logística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2648" y="11704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83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12648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52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valor de SOA está en el contrato, no en el protocolo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capacidades de negocio como servicios versionados es lo que desacopla; SOAP o REST son decisiones posteriores y pueden convivir.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" y="20756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83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0574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ESB convierte un problema cuadrático en uno lineal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3682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enrutamiento, transformación y seguridad evita replicar la misma lógica de integración en cada par de sistemas.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" y="29809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83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96265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estándares sectoriales hacen viable la integración externa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2735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X12 sobre AS2 y GS1 EPCIS permiten incorporar socios sin negociar un formato nuevo cada vez.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" y="3886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83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679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gobierno, SOA degenera en otro conjunto de silos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788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de servicios, el versionado y la medición de SLA son parte de la arquitectura, no un añadido administrativo.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" y="4956048"/>
            <a:ext cx="10972800" cy="1389888"/>
          </a:xfrm>
          <a:prstGeom prst="roundRect">
            <a:avLst>
              <a:gd name="adj" fmla="val 5263"/>
            </a:avLst>
          </a:prstGeom>
          <a:solidFill>
            <a:srgbClr val="1331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12064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394960"/>
            <a:ext cx="10469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Papazoglou, M. P. y van den Heuvel, W. J. (2007). Service oriented architectures: approaches, technologies and research issues. The VLDB Journal, 16(3), 389–415.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Liu, X., Zhang, Z., Lu, T. y Fan, W. (2007). Optimizing Supply Chains through Service-Oriented Architecture. En Research and Practical Issues of Enterprise Information Systems II (pp. 405–414). Springer.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Erl, T. (2005). Service-Oriented Architecture: Concepts, Technology, and Design. Prentice Hall.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GS1 (2022). EPCIS and CBV 2.0 Standard (ISO/IEC 19987).  ·  Cleo. Walmart EDI Integration Guide: documentos X12 850/855/856/810 y transporte AS2. cleo.com/blog/walmart-edi-integration-guide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Integracion de sistemas con SOA - caso cadena de suministro retail</dc:title>
  <dc:subject>PptxGenJS Presentation</dc:subject>
  <dc:creator>Alejo</dc:creator>
  <cp:lastModifiedBy>Alejo</cp:lastModifiedBy>
  <cp:revision>1</cp:revision>
  <dcterms:created xsi:type="dcterms:W3CDTF">2026-09-08T23:29:51Z</dcterms:created>
  <dcterms:modified xsi:type="dcterms:W3CDTF">2026-09-08T23:29:51Z</dcterms:modified>
</cp:coreProperties>
</file>